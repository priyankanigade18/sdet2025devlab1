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9"/>
  </p:notesMasterIdLst>
  <p:sldIdLst>
    <p:sldId id="256" r:id="rId2"/>
    <p:sldId id="257" r:id="rId3"/>
    <p:sldId id="272" r:id="rId4"/>
    <p:sldId id="273" r:id="rId5"/>
    <p:sldId id="280" r:id="rId6"/>
    <p:sldId id="274" r:id="rId7"/>
    <p:sldId id="281" r:id="rId8"/>
    <p:sldId id="279" r:id="rId9"/>
    <p:sldId id="276" r:id="rId10"/>
    <p:sldId id="275" r:id="rId11"/>
    <p:sldId id="282" r:id="rId12"/>
    <p:sldId id="295" r:id="rId13"/>
    <p:sldId id="296" r:id="rId14"/>
    <p:sldId id="325" r:id="rId15"/>
    <p:sldId id="326" r:id="rId16"/>
    <p:sldId id="297" r:id="rId17"/>
    <p:sldId id="321" r:id="rId18"/>
    <p:sldId id="322" r:id="rId19"/>
    <p:sldId id="283" r:id="rId20"/>
    <p:sldId id="300" r:id="rId21"/>
    <p:sldId id="302" r:id="rId22"/>
    <p:sldId id="299" r:id="rId23"/>
    <p:sldId id="301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284" r:id="rId34"/>
    <p:sldId id="317" r:id="rId35"/>
    <p:sldId id="312" r:id="rId36"/>
    <p:sldId id="285" r:id="rId37"/>
    <p:sldId id="314" r:id="rId38"/>
    <p:sldId id="313" r:id="rId39"/>
    <p:sldId id="315" r:id="rId40"/>
    <p:sldId id="316" r:id="rId41"/>
    <p:sldId id="318" r:id="rId42"/>
    <p:sldId id="286" r:id="rId43"/>
    <p:sldId id="319" r:id="rId44"/>
    <p:sldId id="287" r:id="rId45"/>
    <p:sldId id="362" r:id="rId46"/>
    <p:sldId id="288" r:id="rId47"/>
    <p:sldId id="320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28F34-7DC8-4B4B-A4A0-194233BF9898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1C992-7862-4E90-B0E7-034474E6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0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12D-1544-4EE1-AEF4-9A476FDDE76D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4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5B9A-C2C9-4148-AE08-B62D6E3A3A23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B93B-3AE5-4827-8C82-61747655AA11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31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9319-5A61-4399-890A-E41C8485E9DF}" type="datetime1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6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24A6-1349-43DD-8BA8-E8ADC3C84245}" type="datetime1">
              <a:rPr lang="en-IN" smtClean="0"/>
              <a:t>12-04-2025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6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3BF5-2DBD-48A6-B63D-2752019020CA}" type="datetime1">
              <a:rPr lang="en-IN" smtClean="0"/>
              <a:t>12-04-2025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9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D5D6-5F38-4981-BD2A-A964C24A9226}" type="datetime1">
              <a:rPr lang="en-IN" smtClean="0"/>
              <a:t>12-04-2025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4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1B67-359C-499C-A054-B4CBFF0B0778}" type="datetime1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7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5EBE-E2A2-403E-ACE2-3F09835E149A}" type="datetime1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75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374A-E9B1-422E-9E75-B18D96057626}" type="datetime1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9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0200-0B69-4F63-B48F-5C918BD6E119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17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6442-5090-4338-8E61-CA4C5719D4C5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5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77CE-8354-41E5-A515-39DA7996D5FA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8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661-09B7-405D-90DD-3CADCB6B86ED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04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AFB95-180C-4CC7-A270-05D59AB2E37D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96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86D7-7737-4350-ACC5-1F5E6E023D60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D301-1C4C-4E28-A8DC-C92552A00212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0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F7CF14-BA9E-4E44-A15A-FEF621B2892B}" type="datetime1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0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appium/appium-desktop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customDriver@1.0.0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um.io/docs/en/writing-running-appium/android/android-mobile-gestures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2E73-DEFF-0EA9-28C8-F0729F1FA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Appium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50138-C828-DDDE-413E-477BF32B4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29019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7E36-5079-8D9D-0C2A-E12C9544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336641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DC63-8DF1-D99A-724A-9D7E4611E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114" y="1527141"/>
            <a:ext cx="10018713" cy="3368511"/>
          </a:xfrm>
        </p:spPr>
        <p:txBody>
          <a:bodyPr>
            <a:normAutofit fontScale="92500" lnSpcReduction="20000"/>
          </a:bodyPr>
          <a:lstStyle/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Mobile Application Testing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Appium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Architecture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Installation on Windows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Create Driver Session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Finding Locators(Android)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Handling Mobile UI Elements</a:t>
            </a:r>
          </a:p>
        </p:txBody>
      </p:sp>
    </p:spTree>
    <p:extLst>
      <p:ext uri="{BB962C8B-B14F-4D97-AF65-F5344CB8AC3E}">
        <p14:creationId xmlns:p14="http://schemas.microsoft.com/office/powerpoint/2010/main" val="361331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4"/>
            <a:ext cx="8153400" cy="914397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Mobile application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00520" y="838200"/>
            <a:ext cx="9681327" cy="3007936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“Mobile application testing is a process by which software application developed for handheld mobile devices is tested for its functionality, usability, and consistency.</a:t>
            </a: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Mobile application testing can be automated or manual type of testing.”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564" y="3429000"/>
            <a:ext cx="7716627" cy="32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"/>
            <a:ext cx="8153400" cy="9905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Types of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0457" y="1066800"/>
            <a:ext cx="9304255" cy="4738254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or Application testing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applications that work on mobile devices and their functionality is tested. It is called the “Mobile Application Testing”.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Hardware testing: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device including the internal processors, internal hardware, screen sizes, resolution, space or memory, camera, radio, Bluetooth, WIFI etc.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3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2D97-4CB8-A370-3396-B9C66943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29878"/>
          </a:xfrm>
        </p:spPr>
        <p:txBody>
          <a:bodyPr/>
          <a:lstStyle/>
          <a:p>
            <a:pPr>
              <a:defRPr/>
            </a:pPr>
            <a:r>
              <a:rPr lang="en-IN" sz="3200" b="1" dirty="0">
                <a:latin typeface="Century Schoolbook" panose="02040604050505020304" pitchFamily="18" charset="0"/>
              </a:rPr>
              <a:t>Types of Mobile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C3D1-80A0-AA7C-64A9-23456AEB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4" y="1866899"/>
            <a:ext cx="8769250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Native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Mobile Web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Hybrid Applications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40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Native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2875" y="1734533"/>
            <a:ext cx="7532016" cy="3930977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are those applications that are designed for a specific mobile Operating Systems like iOS or Android.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built using different programming languages like Swift or Objective-C for developing iOS app and Java (Android Studio)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allows the access to the in-built device capabilities.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92650-FC4D-2809-F755-957A9606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288" y="1066801"/>
            <a:ext cx="2530059" cy="548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125" y="-23567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 Mobile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83703" y="1385739"/>
            <a:ext cx="7145517" cy="2884603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Web Application is a self-sustaining software that completely runs on the web browser.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 does not need to be downloaded and installed on the local machine of the end user.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applications can span over multiple pages or be restricted to a single page.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9C4FD-2951-17A0-7442-F6B3EA21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414" y="1043230"/>
            <a:ext cx="2720576" cy="50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Hybrid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55423" y="1435229"/>
            <a:ext cx="7532016" cy="3987539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hybrid app allows you to easily build on multiple platforms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android, windows so learning low-level languages like HTML, CSS,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one can create powerful hybrid apps.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Hybrid apps run in a full-screen browser, called a web view to run a web application inside of a native app, that is invisible to the user.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92109-4B3B-81FE-E021-01663C33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443" y="728220"/>
            <a:ext cx="2347163" cy="5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7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615" y="0"/>
            <a:ext cx="8153400" cy="10667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Test conduct on Mobile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90801" y="990600"/>
            <a:ext cx="7352759" cy="5091548"/>
          </a:xfrm>
        </p:spPr>
        <p:txBody>
          <a:bodyPr anchor="t"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Functional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Performance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Usability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 Interface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Compatibility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Configuration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Installation testing</a:t>
            </a: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4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31172"/>
            <a:ext cx="8153400" cy="11429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Challenges In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4600" y="1066801"/>
            <a:ext cx="7924800" cy="5188527"/>
          </a:xfrm>
        </p:spPr>
        <p:txBody>
          <a:bodyPr anchor="t"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range of mobile devices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Wide varieties of mobile devices.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operating systems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versions of operation system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network operators.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Frequent updates </a:t>
            </a:r>
          </a:p>
        </p:txBody>
      </p:sp>
    </p:spTree>
    <p:extLst>
      <p:ext uri="{BB962C8B-B14F-4D97-AF65-F5344CB8AC3E}">
        <p14:creationId xmlns:p14="http://schemas.microsoft.com/office/powerpoint/2010/main" val="220324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B715-05CB-38EB-2AAA-4AA0764D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79" y="176752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009B-3199-0556-8558-2D3F2417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02938"/>
            <a:ext cx="10018713" cy="27997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an open-source tool for automating native, mobile web, and hybrid applications on iOS mobile, Android mobile, and Windows desktop platforms.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B5A2145-B448-8635-8477-1FD61E28BD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286" y="3205901"/>
            <a:ext cx="6361994" cy="30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2DE3-C3AA-F900-93B1-BFA95D38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8"/>
            <a:ext cx="10018713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469AA-5C0E-61A8-C4C8-61CD3401A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561" y="1135091"/>
            <a:ext cx="9494914" cy="2216086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 cross platform (Android ,iOS ,Windows)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Support multiple programming languages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FFF03-4F48-7C7A-C555-8A877C8B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61" y="3157084"/>
            <a:ext cx="4590654" cy="2850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892FC-C949-24D4-2285-AA47BE4B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14" y="3157084"/>
            <a:ext cx="4934895" cy="28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7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8C75-6901-EC70-00EC-46F58F98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1022"/>
            <a:ext cx="10018713" cy="98274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Why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7991-C146-B195-6383-BBB99782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3761295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supports physical device as well as Android Emulator and iOS Simulator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No pre-compilation of your app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Cross platform and any WebDriver compatible language supported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Support for build In applications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66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00B23-8188-825B-5267-4FF65D08C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491" y="923827"/>
            <a:ext cx="9468344" cy="5363851"/>
          </a:xfrm>
        </p:spPr>
      </p:pic>
    </p:spTree>
    <p:extLst>
      <p:ext uri="{BB962C8B-B14F-4D97-AF65-F5344CB8AC3E}">
        <p14:creationId xmlns:p14="http://schemas.microsoft.com/office/powerpoint/2010/main" val="4049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D356-FD58-4971-B1A9-8F03189B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7903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24BA-1688-4DCD-511D-716DACCE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68" y="1583703"/>
            <a:ext cx="10018713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IOS automation with local Appium server requires mac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Maintaining local Appium server labs need large resource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Documentation is limited and some times its too technical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26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8578-56EC-543B-1AC0-09A3B408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5" y="190500"/>
            <a:ext cx="10018713" cy="118581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47120-53E3-E41E-6C09-2989D908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5FE54-8015-F576-9D66-728B5890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15" y="1509957"/>
            <a:ext cx="10096023" cy="45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11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0A11-DBCE-DC19-66DE-83812DB1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4629"/>
            <a:ext cx="10018713" cy="99217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6D7E-BE1F-CE19-1F48-CC4498E34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152" y="1224698"/>
            <a:ext cx="10018713" cy="3494786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Client/Server Architecture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at its heart a webserver that exposes a REST API.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receives connections from a client, listens for commands, executes those commands on a mobile device, and responds with an HTTP response representing the result of the command execution.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E92BA-8DF8-DCF2-4E11-52EB154A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0" y="3891997"/>
            <a:ext cx="571549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3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E4BF2-5134-F775-31BC-0B450EDDE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5471"/>
            <a:ext cx="10018713" cy="645979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Clients initiate a session with a server in ways specific to each library, but they all end up sending a POST /session request to the server, with a JSON object called the 'desired capabilities' object.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At this point the server will start up the automation session and respond with a session ID which is used for sending further commands.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Desired Capabilities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Server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Appium is a server written in Node.js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Clients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client libraries (in Java, Ruby, Python, PHP, JavaScript, and C#) which support Appium's extensions to the WebDriver protocol.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326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DACF-BAD7-68DF-F9C8-698409AE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2168"/>
            <a:ext cx="10018713" cy="100159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Installation On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CD53-D0BE-22E5-7E20-6AE58DEE5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674" y="1253766"/>
            <a:ext cx="10018713" cy="3547622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1:Install Appium Server through CLI interface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2: Install Appium server desktop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3: Install UiAutomator2 Driver using Appium CLI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Step4: Install Appium Inspector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Step5 : Install Android Studio &amp; configure Java /Android Variable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Step6: Verify installation through Appium Doctor</a:t>
            </a:r>
          </a:p>
        </p:txBody>
      </p:sp>
    </p:spTree>
    <p:extLst>
      <p:ext uri="{BB962C8B-B14F-4D97-AF65-F5344CB8AC3E}">
        <p14:creationId xmlns:p14="http://schemas.microsoft.com/office/powerpoint/2010/main" val="3699539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029" y="120193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1 :Install 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975" y="1074657"/>
            <a:ext cx="9624767" cy="5307289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Commands to check if node and NPM (Node Package Manager) are installed: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node -v</a:t>
            </a:r>
          </a:p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-v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node.js (NPM is included) from link - https://nodejs.org/en/download/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Important note: Use the LTS and not current version.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Appium using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appium@next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Note: @next will not be required once Appium 2.0 stable release is out to market.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@&lt;verion_number&gt;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start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get installation location: where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uninstall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uninstall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51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DD48-929D-4E3A-D9F9-E7DADAA3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592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45BB-EA1D-B6FB-9179-829AEE7E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3D793-F01E-BA02-030E-B8EBF52F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08" y="1861639"/>
            <a:ext cx="938734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6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307" y="261594"/>
            <a:ext cx="10018713" cy="95446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2:Install Appium Desktop</a:t>
            </a:r>
            <a:r>
              <a:rPr lang="en-IN" sz="3200" b="1">
                <a:latin typeface="Century Schoolbook" panose="02040604050505020304" pitchFamily="18" charset="0"/>
              </a:rPr>
              <a:t>(optional)</a:t>
            </a:r>
            <a:endParaRPr lang="en-IN" sz="3200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847" y="1404595"/>
            <a:ext cx="9240591" cy="1178349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https://github.com/appium/appium-desktop/releases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A9AF1-3191-9D8E-9A08-16D9B2304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85" y="2281495"/>
            <a:ext cx="5420354" cy="4081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5F84B4-90A0-09FF-C3BC-C0CD63C3B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786" y="2281495"/>
            <a:ext cx="4590853" cy="40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80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3 :Install UiAutomator2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677" y="1545996"/>
            <a:ext cx="9523396" cy="430569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UiAutomator2 is UI Testing framework introduced by Google to facilitate automation on Android device or Emulator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leverages this UiAutomator2 with its own wrapper and came up with UiAutomator2 Driver to automate the Android application.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Setup: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Get help: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--help (or -h)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Get list of officially supported drivers: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 with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uiautomator2@&lt;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version_number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0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11474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4 :Install Appium Inspector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398" y="980388"/>
            <a:ext cx="9891041" cy="221529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GUI inspector for mobile apps and more, powered by a (separately installed) Appium server.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Inspector is basically just an Appium client (like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WebdriverIO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Appium's Java client, Appium's Python client, etc...) with a user interface.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There's an interface for specifying which Appium server to use, which capabilities to set, and then interacting with elements and other Appium commands once you've started a session.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03661-00D8-A644-9791-924FE7AD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750" y="2927758"/>
            <a:ext cx="7374852" cy="37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4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5 :Install Android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043" y="1432873"/>
            <a:ext cx="9523396" cy="1376315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Download Android studio and do setup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https://developer.android.com/studio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6B7D2-DA49-64EE-EC9D-2C01D53F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238" y="2649473"/>
            <a:ext cx="4663844" cy="3711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A445E9-0DCC-1521-7CF1-DE73213EC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09" y="2649473"/>
            <a:ext cx="4919630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8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4844-1D7B-4B9B-E64D-DD429AFA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9046"/>
            <a:ext cx="10018713" cy="107701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Setup Java &amp; Android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AD84-DB42-7FCD-E702-ABAC18EF8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565" y="1216057"/>
            <a:ext cx="10018713" cy="5731497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Create JAVA_HOME system environment variable and set it to JDK path (without bin folder). 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Edit PATH system environment variable and add %JAVA_HOME%\bin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Note: Usually JDK path is "C:\Program Files\Java\&lt;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your_jdk_version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&gt;“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system environment variable and set it to SDK path. Create ANDROID_HOME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Edit PATH system environment variable and add below,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%ANDROID_HOME%\platform-tools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cmdline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-tools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48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1102-60C7-6F1A-6734-242F2C16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223879"/>
            <a:ext cx="10018713" cy="1086439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6:Verify Installation Using Appium-doctor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FE04-2DBA-EA38-65C2-8DB9A516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273" y="1310318"/>
            <a:ext cx="10018713" cy="179109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install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get help: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--help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check Android setup: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--android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C429C-C413-2A4E-ADCC-DD2A70BD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35" y="3271101"/>
            <a:ext cx="8764063" cy="336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448" y="280447"/>
            <a:ext cx="10018713" cy="1039305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27522"/>
            <a:ext cx="10468878" cy="5448691"/>
          </a:xfrm>
        </p:spPr>
        <p:txBody>
          <a:bodyPr>
            <a:noAutofit/>
          </a:bodyPr>
          <a:lstStyle/>
          <a:p>
            <a:endParaRPr lang="en-IN" sz="2000" dirty="0"/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List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--installed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–updates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Install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&gt;@&lt;specific_version_number&gt;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3017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867" y="259237"/>
            <a:ext cx="10018713" cy="841342"/>
          </a:xfrm>
        </p:spPr>
        <p:txBody>
          <a:bodyPr/>
          <a:lstStyle/>
          <a:p>
            <a:r>
              <a:rPr lang="en-IN" sz="4000" b="1" dirty="0">
                <a:latin typeface="Century Schoolbook" panose="02040604050505020304" pitchFamily="18" charset="0"/>
              </a:rPr>
              <a:t>Appium Driver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448" y="1357460"/>
            <a:ext cx="10468878" cy="4543720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&lt;source&gt; --package &lt;name&gt;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source: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(default),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git, local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package: </a:t>
            </a:r>
            <a:r>
              <a:rPr lang="en-IN" dirty="0">
                <a:latin typeface="Times New Roman" pitchFamily="18" charset="0"/>
                <a:cs typeface="Times New Roman" pitchFamily="18" charset="0"/>
                <a:hlinkClick r:id="rId2"/>
              </a:rPr>
              <a:t>customDriver@1.0.0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git https://github.com/appium/appium-uiautomator2-driver.git --package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/appium-uiautomator2-driver --package appium-uiautomator2-driver</a:t>
            </a:r>
          </a:p>
          <a:p>
            <a:pPr algn="just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BD8C87-3A31-5C7F-CA87-2E7D41BFF3E6}"/>
              </a:ext>
            </a:extLst>
          </p:cNvPr>
          <p:cNvSpPr txBox="1">
            <a:spLocks/>
          </p:cNvSpPr>
          <p:nvPr/>
        </p:nvSpPr>
        <p:spPr>
          <a:xfrm>
            <a:off x="1509448" y="280448"/>
            <a:ext cx="10018713" cy="8413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32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93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302" y="304016"/>
            <a:ext cx="10018713" cy="1199560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771" y="1081725"/>
            <a:ext cx="9233967" cy="427269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Uninstall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uninstall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Update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uiautomator2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--unsafe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installed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587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729" y="82485"/>
            <a:ext cx="10018713" cy="84134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Emulator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C873D-29C4-93CA-56CD-61C9DF964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77" y="1691671"/>
            <a:ext cx="3506715" cy="33116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50DCC-5789-6CFD-57F9-1836103F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18" y="1691671"/>
            <a:ext cx="4810017" cy="3311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9A938-A62A-FE76-7A1C-A57BB7353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462" y="1021171"/>
            <a:ext cx="3101960" cy="52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45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14C-9206-CD8C-7133-1E6E695B5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Create Driver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802DC-8815-A5E2-9B0F-D7F89F804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682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109"/>
            <a:ext cx="10018713" cy="93325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263192"/>
            <a:ext cx="9611039" cy="517531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also various capabilities which can modify the behavior of the server during automation.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Keys and values encoded in a JSON object, sent by Appium clients (e.g. Java Client) to the server when a new driver session is requested.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- Scripted through code or through the Appium Inspector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1. How you want your test to work    2. Device to connect   3. App to work with</a:t>
            </a:r>
          </a:p>
          <a:p>
            <a:pPr algn="just"/>
            <a:endParaRPr lang="en-US" sz="18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40053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15257"/>
            <a:ext cx="10018713" cy="107583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791092"/>
            <a:ext cx="9611039" cy="3130877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UiAutomator2 (Android)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https://github.com/appium/appium-uiautomator2-driver?#capabilities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XCUITest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(iOS)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https://github.com/appium/appium-xcuitest-driver#capabilities</a:t>
            </a:r>
          </a:p>
          <a:p>
            <a:pPr algn="just"/>
            <a:endParaRPr lang="en-US" sz="20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7094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D46-75DA-C984-8705-8304388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8579"/>
            <a:ext cx="10018713" cy="72822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session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CF8EB-9386-F23B-1C9B-293EAB735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068" y="1300112"/>
            <a:ext cx="3943930" cy="4582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06884-C9F1-BEA1-88D3-EB9AD475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6" y="1300111"/>
            <a:ext cx="6476215" cy="45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08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BFA4-208E-E4DF-396E-FAE5ACCD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46" y="346437"/>
            <a:ext cx="10018713" cy="109586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Driver Session for 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C9180-251B-F97A-27A6-96B5CB048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995" y="1442303"/>
            <a:ext cx="9993348" cy="4348897"/>
          </a:xfrm>
        </p:spPr>
      </p:pic>
    </p:spTree>
    <p:extLst>
      <p:ext uri="{BB962C8B-B14F-4D97-AF65-F5344CB8AC3E}">
        <p14:creationId xmlns:p14="http://schemas.microsoft.com/office/powerpoint/2010/main" val="151748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Android session Using Options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5CA6-027E-810C-FAB9-F83FC94FC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B13A40-2468-B260-F7E5-E441E53D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1872434"/>
            <a:ext cx="10385354" cy="35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49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iOS session Using Options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E0C2A-AE1E-3758-311D-BAD81C645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1593130"/>
            <a:ext cx="10018712" cy="4440024"/>
          </a:xfrm>
        </p:spPr>
      </p:pic>
    </p:spTree>
    <p:extLst>
      <p:ext uri="{BB962C8B-B14F-4D97-AF65-F5344CB8AC3E}">
        <p14:creationId xmlns:p14="http://schemas.microsoft.com/office/powerpoint/2010/main" val="69444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3C15-16DC-8232-4CED-225B57E3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887" y="120191"/>
            <a:ext cx="10018713" cy="96389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How to get App Package &amp; App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E977-995C-E1D6-2375-F2E647261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73" y="1084082"/>
            <a:ext cx="9730783" cy="326167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app on the device and bring activity in 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Launch terminal/CMD prompt and execute command (for older Android versions):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 | grep -E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mCurrentFocus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for Android 10 and above: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activity activities | grep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mResumedActivity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 On windows, you might have to launch the 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first, using command “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shell”, Then execute the remaining command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3AB45-BED0-F179-E717-8A4B38A94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06" y="4313804"/>
            <a:ext cx="8626588" cy="2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2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D0DB-869F-DCAE-5311-528D2986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445" y="255311"/>
            <a:ext cx="10018713" cy="127183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How to get Bundle Id for 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9D0F2-5630-410A-A559-253D7621A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503" y="1527143"/>
            <a:ext cx="10018713" cy="411008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iOS: How to get </a:t>
            </a:r>
            <a:r>
              <a:rPr lang="en-IN" sz="20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bundleId</a:t>
            </a: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[If no access to Xcode and app’s source code]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.app file</a:t>
            </a:r>
            <a:endParaRPr lang="en-IN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click .app file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package contents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IN" sz="20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info.plist</a:t>
            </a: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 in Xcode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 for Bundle identifier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click on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show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in system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explorerright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click on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UIkitappshow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package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contentsinfo.plist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open get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buldleid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07031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2C43-239D-DBAF-556B-E5002E05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65" y="358219"/>
            <a:ext cx="10018713" cy="98274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 Session Through Appium Inspector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23D4E-5DC4-8DDA-30A9-A87CFC994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496" y="1340963"/>
            <a:ext cx="9012025" cy="5010346"/>
          </a:xfrm>
        </p:spPr>
      </p:pic>
    </p:spTree>
    <p:extLst>
      <p:ext uri="{BB962C8B-B14F-4D97-AF65-F5344CB8AC3E}">
        <p14:creationId xmlns:p14="http://schemas.microsoft.com/office/powerpoint/2010/main" val="3662392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604-7F13-46A3-4B5F-AE4D1EEB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84143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Locator Strategy for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71D9-E9D3-E51B-8526-8F80D8D7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67" y="1653830"/>
            <a:ext cx="10018713" cy="29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00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604-7F13-46A3-4B5F-AE4D1EEB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84144"/>
            <a:ext cx="10018713" cy="84134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Locator Strategy for IOS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4A30D-B480-0D29-B245-10ACBEE2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0" y="1617818"/>
            <a:ext cx="10369486" cy="413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031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D20B-D0CF-C2AC-A437-EB421267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101338"/>
            <a:ext cx="9146322" cy="1752599"/>
          </a:xfrm>
        </p:spPr>
        <p:txBody>
          <a:bodyPr/>
          <a:lstStyle/>
          <a:p>
            <a:pPr algn="l"/>
            <a:r>
              <a:rPr lang="en-IN" sz="3200" b="1" dirty="0">
                <a:latin typeface="Century Schoolbook" panose="02040604050505020304" pitchFamily="18" charset="0"/>
              </a:rPr>
              <a:t>Mobile Gestures With UiAutomator2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58EE-D221-4F4D-E0F7-5D1A1DE7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227" y="1357461"/>
            <a:ext cx="9664795" cy="4343400"/>
          </a:xfrm>
        </p:spPr>
        <p:txBody>
          <a:bodyPr>
            <a:normAutofit/>
          </a:bodyPr>
          <a:lstStyle/>
          <a:p>
            <a:r>
              <a:rPr lang="en-IN" dirty="0">
                <a:hlinkClick r:id="rId2"/>
              </a:rPr>
              <a:t>https://appium.io/docs/en/writing-running-appium/android/android-mobile-gestures/</a:t>
            </a:r>
            <a:endParaRPr lang="en-IN" dirty="0"/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1.click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2.Long 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3.Drag and Drop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4.Scroll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5.Swipe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77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Automating the App Interactions such as 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Lock and Unlock and rotate the Android 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167" y="1762812"/>
            <a:ext cx="10199802" cy="4936836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 and Unlock the Device : To automate locking and unlocking the device, you can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and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methods.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locks the device screen, simulating the user action of pressing the power button.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unlocks the device screen, simulating the user action of swiping or entering the device's unlock pattern or PIN.</a:t>
            </a:r>
          </a:p>
          <a:p>
            <a:pPr marL="457200" indent="-457200" algn="just">
              <a:buAutoNum type="arabicPeriod" startAt="2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Rotate the Android Phone : To automate rotating the Android phone to different orientations, you can use the Appium driver's ‘rotate’ method.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rotate method allows you to specify the desired orientation using the ‘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ScreenOrientation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’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, which includes values such as LANDSCAPE and PORTRAIT.</a:t>
            </a: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92569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24" y="82485"/>
            <a:ext cx="7844261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59496"/>
            <a:ext cx="10299195" cy="5698504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Terminate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Terminates an existing app 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terminateApp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(“app package name");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Install Application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Test app upgrades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Note: Use terminate before installing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installApp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(appurl1,newAndroidInstallApplicationOptions().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withReplaceEnabled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());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Remove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- Uninstalls app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removeApp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Is app installed?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Checks if an app is already installed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36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550" y="129619"/>
            <a:ext cx="10018713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973317"/>
            <a:ext cx="10299195" cy="56985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Run app is background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Sends app to background for specified time and then brings back to foreground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runAppInBackground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Duration.ofMillis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(5000));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Activate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Activates an app and moves it to foreground (the app should be already running)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 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To activate any new app like Settings	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activateApp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com.android.settings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Query app state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Returns current app state (for e.g. RUNNING_IN_FOREGROUND)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queryAppState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Reset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Reset the app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041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2573</TotalTime>
  <Words>2121</Words>
  <Application>Microsoft Office PowerPoint</Application>
  <PresentationFormat>Widescreen</PresentationFormat>
  <Paragraphs>227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Arial</vt:lpstr>
      <vt:lpstr>Calibri</vt:lpstr>
      <vt:lpstr>Century Schoolbook</vt:lpstr>
      <vt:lpstr>Corbel</vt:lpstr>
      <vt:lpstr>Helvetica</vt:lpstr>
      <vt:lpstr>Open Sans</vt:lpstr>
      <vt:lpstr>Roboto Medium</vt:lpstr>
      <vt:lpstr>Sitka Small Semibold</vt:lpstr>
      <vt:lpstr>Times New Roman</vt:lpstr>
      <vt:lpstr>Wingdings 2</vt:lpstr>
      <vt:lpstr>Parallax</vt:lpstr>
      <vt:lpstr>Appium</vt:lpstr>
      <vt:lpstr>Contents</vt:lpstr>
      <vt:lpstr>Mobile application testing</vt:lpstr>
      <vt:lpstr>Types of mobile testing</vt:lpstr>
      <vt:lpstr>Types of Mobile Applications</vt:lpstr>
      <vt:lpstr>Native Mobile App</vt:lpstr>
      <vt:lpstr> Mobile Web Application</vt:lpstr>
      <vt:lpstr>Hybrid Mobile App</vt:lpstr>
      <vt:lpstr>Test conduct on Mobile Application</vt:lpstr>
      <vt:lpstr>Challenges In Mobile Testing</vt:lpstr>
      <vt:lpstr>What is Appium</vt:lpstr>
      <vt:lpstr>What is Appium</vt:lpstr>
      <vt:lpstr>Why Appium</vt:lpstr>
      <vt:lpstr>PowerPoint Presentation</vt:lpstr>
      <vt:lpstr>Limitations</vt:lpstr>
      <vt:lpstr>Appium Architecture</vt:lpstr>
      <vt:lpstr>Appium Architecture</vt:lpstr>
      <vt:lpstr>PowerPoint Presentation</vt:lpstr>
      <vt:lpstr>Appium Installation On Windows</vt:lpstr>
      <vt:lpstr>Step 1 :Install Appium Through CLI</vt:lpstr>
      <vt:lpstr>Appium Through CLI</vt:lpstr>
      <vt:lpstr>Step 2:Install Appium Desktop(optional)</vt:lpstr>
      <vt:lpstr>Step 3 :Install UiAutomator2 Through CLI</vt:lpstr>
      <vt:lpstr>Step 4 :Install Appium Inspector</vt:lpstr>
      <vt:lpstr>Step 5 :Install Android Studio</vt:lpstr>
      <vt:lpstr>Setup Java &amp; Android variable</vt:lpstr>
      <vt:lpstr>Step 6:Verify Installation Using Appium-doctor</vt:lpstr>
      <vt:lpstr>Appium Driver Management</vt:lpstr>
      <vt:lpstr>Appium Driver Management</vt:lpstr>
      <vt:lpstr>Appium Driver Management</vt:lpstr>
      <vt:lpstr>Android Emulator Setup</vt:lpstr>
      <vt:lpstr>Create Driver Session</vt:lpstr>
      <vt:lpstr>Desired Capabilities</vt:lpstr>
      <vt:lpstr>Desired Capabilities</vt:lpstr>
      <vt:lpstr>Android session</vt:lpstr>
      <vt:lpstr>Create Driver Session for IOS</vt:lpstr>
      <vt:lpstr>Create Android session Using Options Class</vt:lpstr>
      <vt:lpstr>Create iOS session Using Options Class</vt:lpstr>
      <vt:lpstr>How to get App Package &amp; App Activity</vt:lpstr>
      <vt:lpstr>How to get Bundle Id for IOS</vt:lpstr>
      <vt:lpstr>Create a Session Through Appium Inspector</vt:lpstr>
      <vt:lpstr>Locator Strategy for Android</vt:lpstr>
      <vt:lpstr>Locator Strategy for IOS</vt:lpstr>
      <vt:lpstr>Mobile Gestures With UiAutomator2</vt:lpstr>
      <vt:lpstr>Automating the App Interactions such as  Lock and Unlock and rotate the Android Phone</vt:lpstr>
      <vt:lpstr>Working with App</vt:lpstr>
      <vt:lpstr>Working with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Appium</dc:title>
  <dc:creator>Ganesh Nigade</dc:creator>
  <cp:lastModifiedBy>istqb.trainer@devlabsalliance.com</cp:lastModifiedBy>
  <cp:revision>125</cp:revision>
  <dcterms:created xsi:type="dcterms:W3CDTF">2023-03-07T13:14:32Z</dcterms:created>
  <dcterms:modified xsi:type="dcterms:W3CDTF">2025-04-12T13:26:44Z</dcterms:modified>
</cp:coreProperties>
</file>